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4FD31C-525B-4304-A087-CC0FD137C7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593237-52C4-4C19-90F3-AFFD5D4907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E5C0683-394F-4DD7-832E-0E2A758DD7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5AAB517-4409-4E4E-8149-456FEF77B5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933ED4F-7A04-4A55-B103-3903A5FCEB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67F65EB-4958-4031-8715-32C0BBE823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AC2EB1D-8932-445D-97EC-FC3FA62C36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5571DC3-2A71-4230-ACAB-917C7BE5ED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90FDF52-0113-45C3-8005-5F6DFED217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8385A09-EB27-4A03-86A6-789BE9AD28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45BAE03-A44A-470F-86FF-7973200383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Master title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44FB70-EAB4-40F7-9009-4504373EBB8B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Third Outline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Outline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in Modern Roman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Latin Modern Roman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in Modern Roman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Latin Modern Roman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Latin Modern Roman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Master title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817099-F2FC-4E9A-9011-47D1A78F4C18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li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k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o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d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a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i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y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l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958BF9-0E5D-4B4F-B0A1-193F8A470694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Master title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8B7C9E-D8F2-4C91-97BE-A72C25C2F64B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Click 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to 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edit 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Mast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er 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title </a:t>
            </a:r>
            <a:r>
              <a:rPr b="1" lang="en-US" sz="3000" spc="-1" strike="noStrike" cap="all">
                <a:solidFill>
                  <a:schemeClr val="dk1"/>
                </a:solidFill>
                <a:latin typeface="Latin Modern Roman"/>
              </a:rPr>
              <a:t>style</a:t>
            </a:r>
            <a:endParaRPr b="0" lang="en-US" sz="30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3430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Click to edit Master text styles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A83E1D-D59D-4ED2-903D-03504AE2FC37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to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title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DED8DB-5B91-408F-87F4-5559B1BB872D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to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edit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Mast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er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title </a:t>
            </a: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34308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35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C1063F-487D-4217-AD01-44C36AA5C092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Click to edit Master title style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85A6A4-E64E-4540-A19B-8529F66335B9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C43460-0E6E-47E9-AC3A-0A1977B2934F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Latin Modern Roman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685800" indent="-343080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00" spc="-1" strike="noStrike">
                <a:solidFill>
                  <a:schemeClr val="dk1"/>
                </a:solidFill>
                <a:latin typeface="Latin Modern Roman"/>
              </a:rPr>
              <a:t>Second level</a:t>
            </a:r>
            <a:endParaRPr b="0" lang="en-US" sz="21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028880" indent="-343080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Latin Modern Roman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37160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Fourth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  <a:p>
            <a:pPr lvl="4" marL="1714680" indent="-343080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500" spc="-1" strike="noStrike">
                <a:solidFill>
                  <a:schemeClr val="dk1"/>
                </a:solidFill>
                <a:latin typeface="Latin Modern Roman"/>
              </a:rPr>
              <a:t>Fifth level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371BA5-0C49-496B-8B7B-2D08DAB6E6D9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chemeClr val="dk1"/>
                </a:solidFill>
                <a:latin typeface="Latin Modern Roman"/>
              </a:rPr>
              <a:t>Click to edit Master title style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46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Latin Modern Roman"/>
              </a:rPr>
              <a:t>Click to edit Master text styles</a:t>
            </a:r>
            <a:endParaRPr b="0" lang="en-US" sz="105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&lt;date/time&gt;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86"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9BC479-CD6E-4B63-9800-6FAC928EFAB1}" type="slidenum"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&lt;number&gt;</a:t>
            </a:fld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SPAR Week 5 Progress Report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4133"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pl-PL" sz="24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Effort direction in Qwen3.5-9B: new vectors &amp; layer choice exploration</a:t>
            </a:r>
            <a:br>
              <a:rPr sz="2400"/>
            </a:br>
            <a:br>
              <a:rPr sz="2400"/>
            </a:br>
            <a:r>
              <a:rPr b="0" lang="pl-PL" sz="24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Kacper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Latin Modern Roman"/>
              </a:rPr>
              <a:t>2026-10-17</a:t>
            </a:r>
            <a:endParaRPr b="0" lang="pl-PL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Personal updates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Was at a conference this week: Models of Consciousness 7 in Copenhagen. Had limited capacity. Next 2 weeks free. Want to do larger-scale experiments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Need more vast.ai credits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For now still ran all experiments on small 9B Qwen. Needed to compare the vector extraction methods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Bigger-scale experiments with, e.g., GLM-5.1 require WAY more compute (like 8xH100), but a good chance of interesting findings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This week’s takeaways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4133" lnSpcReduction="10000"/>
          </a:bodyPr>
          <a:p>
            <a:pPr indent="0" defTabSz="34308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New vector is weak everywhere. Old vector is strong somewhere.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Old vector (response-token average), layer 16, essays: remove it, essays lose </a:t>
            </a: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2 / 32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; add a little, essays win </a:t>
            </a: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28 / 14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pooled (p = 0.04)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New vector (assistant-start token), best layer 18, essays: </a:t>
            </a: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nothing significant at any of 7 doses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; 63-80% ties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Random directions: nothing, everywhere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Layer 16 was an educated guess last week (middle of 32 layers, matched with other paper average). Now tested: it sits inside a plateau (layers 8-16 all work for removal)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This week’s changes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Translation dropped from everything (vectors now from grant + postmortem only, essays held out for testing)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Two new ways to read out the vector tried, as suggested: assistant-start token, average over user-prompt tokens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Optimal injection layer chosen by an empirical procedure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Infrastructure moved to vast.ai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Latin Modern Roman"/>
              </a:rPr>
              <a:t>Three readouts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Latin Modern Roman"/>
              </a:rPr>
              <a:t>Used same prompts (max-effort vs neutral), same model, same 120 responses per side; altered only the hidden state readout position</a:t>
            </a:r>
            <a:endParaRPr b="0" lang="en-US" sz="1050" spc="-1" strike="noStrike">
              <a:solidFill>
                <a:schemeClr val="dk1"/>
              </a:solidFill>
              <a:latin typeface="Latin Modern Roman"/>
            </a:endParaRPr>
          </a:p>
        </p:txBody>
      </p:sp>
      <p:graphicFrame>
        <p:nvGraphicFramePr>
          <p:cNvPr id="77" name="Content Placeholder 5"/>
          <p:cNvGraphicFramePr/>
          <p:nvPr/>
        </p:nvGraphicFramePr>
        <p:xfrm>
          <a:off x="3568680" y="203040"/>
          <a:ext cx="5105160" cy="2053080"/>
        </p:xfrm>
        <a:graphic>
          <a:graphicData uri="http://schemas.openxmlformats.org/drawingml/2006/table">
            <a:tbl>
              <a:tblPr/>
              <a:tblGrid>
                <a:gridCol w="2552400"/>
                <a:gridCol w="25524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readout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taken from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model resp. avg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mean over the model’s own answer tokens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assistant-start token (new)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last prompt token, right before the model starts writing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user-prompt avg (new)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mean over the user’s prompt tokens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User-prompt average vector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Steered grant abstracts at 11 layers, 2 doses, 30 items each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Moved the text the wrong way at every layer: fewer rare words, more positive words, the opposite of what the real exhortation does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Possible reason: this direction is mostly the words of the exhortation sentence itself, not a state of the model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Dropped; not carried to the essay test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Assistant-start token vector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Chat template ends with </a:t>
            </a:r>
            <a:r>
              <a:rPr b="0" lang="en-US" sz="2400" spc="-1" strike="noStrike">
                <a:solidFill>
                  <a:schemeClr val="dk1"/>
                </a:solidFill>
                <a:latin typeface="Courier New"/>
              </a:rPr>
              <a:t>&lt;|im_start|&gt;assistant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and a newline. The vector is read at that last token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It is the model’s state after reading the whole prompt and just before writing word one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Layer exploration procedure (Claude-assisted)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4133"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Reliability profile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per layer, free from extraction data: which layers have a stable direction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Judge-free sweep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on grant (not essays, to keep essays clean): 11 layers x 6 doses x 30 items. Hurdles: fluency intact, KL to the unsteered model &lt; 0.1, steered text re-read still points along the direction. Rank passing layers by how well the feature changes match the paper’s exhortation effect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Judge check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: top 3 layers + layer 16, paper’s 3-judge panel, 30 grant pairs each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Essay dose curve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at the winner, same design as last week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Layer exploration results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Step 1: layers 14-24 pass for the new vector; 8-12 fail the “text still points along the direction” hurdle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Step 2: feature match picked </a:t>
            </a: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layer 24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(0.86), layer 22 close (0.88), layer 18 third (0.79)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Step 3: judges disagreed. </a:t>
            </a: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Layer 18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won 8 / 1 on grant; layers 22 and 24 were null or lost. Rule said: judges override. Layer 18 chosen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Lesson: late layers change surface statistics without changing what judges value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Latin Modern Roman"/>
              </a:rPr>
              <a:t>Essay rerun: new vector at layer 18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Latin Modern Roman"/>
              </a:rPr>
              <a:t>Same design as last week: 30 items x 2 repeats, steered vs unsteered, paper judges</a:t>
            </a:r>
            <a:endParaRPr b="0" lang="en-US" sz="1050" spc="-1" strike="noStrike">
              <a:solidFill>
                <a:schemeClr val="dk1"/>
              </a:solidFill>
              <a:latin typeface="Latin Modern Roman"/>
            </a:endParaRPr>
          </a:p>
        </p:txBody>
      </p:sp>
      <p:graphicFrame>
        <p:nvGraphicFramePr>
          <p:cNvPr id="88" name="Content Placeholder 5"/>
          <p:cNvGraphicFramePr/>
          <p:nvPr/>
        </p:nvGraphicFramePr>
        <p:xfrm>
          <a:off x="3568680" y="203040"/>
          <a:ext cx="5079600" cy="2661120"/>
        </p:xfrm>
        <a:graphic>
          <a:graphicData uri="http://schemas.openxmlformats.org/drawingml/2006/table">
            <a:tbl>
              <a:tblPr/>
              <a:tblGrid>
                <a:gridCol w="1269720"/>
                <a:gridCol w="1269720"/>
                <a:gridCol w="1269720"/>
                <a:gridCol w="12697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dose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W / L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win rate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ties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-0.20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7 / 13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0.35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40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-0.10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10 / 8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0.56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42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-0.05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12 / 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0.67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42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+0.05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11 / 9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0.55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40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+0.10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9 / 3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0.75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48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+0.15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11 / 10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0.52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39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+0.20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10 / 12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0.45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38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Nothing significant. Judges saw near-identical essays. Same at layers 16 and 22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Length unchanged, fluency unchanged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Latin Modern Roman"/>
              </a:rPr>
              <a:t>Essay rerun: old vector, rebuilt from scratch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Latin Modern Roman"/>
              </a:rPr>
              <a:t>Old recipe, but new data (no translation, 120 responses per side instead of 180). Layer 16</a:t>
            </a:r>
            <a:endParaRPr b="0" lang="en-US" sz="1050" spc="-1" strike="noStrike">
              <a:solidFill>
                <a:schemeClr val="dk1"/>
              </a:solidFill>
              <a:latin typeface="Latin Modern Roman"/>
            </a:endParaRPr>
          </a:p>
        </p:txBody>
      </p:sp>
      <p:graphicFrame>
        <p:nvGraphicFramePr>
          <p:cNvPr id="92" name="Content Placeholder 5"/>
          <p:cNvGraphicFramePr/>
          <p:nvPr/>
        </p:nvGraphicFramePr>
        <p:xfrm>
          <a:off x="3568680" y="203040"/>
          <a:ext cx="5079600" cy="997920"/>
        </p:xfrm>
        <a:graphic>
          <a:graphicData uri="http://schemas.openxmlformats.org/drawingml/2006/table">
            <a:tbl>
              <a:tblPr/>
              <a:tblGrid>
                <a:gridCol w="1269720"/>
                <a:gridCol w="1269720"/>
                <a:gridCol w="1269720"/>
                <a:gridCol w="12697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dose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W / L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win rate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p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-0.10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6 / 26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0.19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0.001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+0.05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16 / 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0.76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0.027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Last week’s curve again, from an independent build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Pooled over the two runs, +0.05 is 27 / 11 (p = 0.014): first real sign that adding the direction helps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Possibly lack of translation data helps?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chemeClr val="dk1"/>
                </a:solidFill>
                <a:latin typeface="Latin Modern Roman"/>
              </a:rPr>
              <a:t>Old vector: layer profile (Claude-assisted)</a:t>
            </a:r>
            <a:endParaRPr b="0" lang="en-US" sz="15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343080">
              <a:lnSpc>
                <a:spcPct val="100000"/>
              </a:lnSpc>
              <a:spcBef>
                <a:spcPts val="210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Latin Modern Roman"/>
              </a:rPr>
              <a:t>Old vector, essays, 60 pairs per cell, 5 layers.</a:t>
            </a:r>
            <a:endParaRPr b="0" lang="en-US" sz="1050" spc="-1" strike="noStrike">
              <a:solidFill>
                <a:schemeClr val="dk1"/>
              </a:solidFill>
              <a:latin typeface="Latin Modern Roman"/>
            </a:endParaRPr>
          </a:p>
        </p:txBody>
      </p:sp>
      <p:graphicFrame>
        <p:nvGraphicFramePr>
          <p:cNvPr id="96" name="Content Placeholder 5"/>
          <p:cNvGraphicFramePr/>
          <p:nvPr/>
        </p:nvGraphicFramePr>
        <p:xfrm>
          <a:off x="3568680" y="203040"/>
          <a:ext cx="5105160" cy="2338200"/>
        </p:xfrm>
        <a:graphic>
          <a:graphicData uri="http://schemas.openxmlformats.org/drawingml/2006/table">
            <a:tbl>
              <a:tblPr/>
              <a:tblGrid>
                <a:gridCol w="1701720"/>
                <a:gridCol w="1701720"/>
                <a:gridCol w="170172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layer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remove (-0.10)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add (+0.05)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8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0.12</a:t>
                      </a: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 (3 / 22)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0.77 (10 / 3, 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12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0.09</a:t>
                      </a: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 (3 / 32)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0.33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16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0.06</a:t>
                      </a: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 (2 / 32)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0.57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20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0.32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0.42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24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0.28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0.45 (n.s.)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random @16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0.48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0.35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Removal hurts across layers 8-16, fades after 20. Layer 16 is inside the plateau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Adding helps only weakly; layer 16 +0.05 pooled over all three runs (last week + two today): 39 / 20 (0.66)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Old vs new vector, side by side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graphicFrame>
        <p:nvGraphicFramePr>
          <p:cNvPr id="99" name="Content Placeholder 5"/>
          <p:cNvGraphicFramePr/>
          <p:nvPr/>
        </p:nvGraphicFramePr>
        <p:xfrm>
          <a:off x="457200" y="1193760"/>
          <a:ext cx="8229240" cy="2239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 anchor="t">
                      <a:noAutofit/>
                    </a:bodyPr>
                    <a:p>
                      <a:endParaRPr b="0" lang="en-US" sz="1350" spc="-1" strike="noStrike">
                        <a:solidFill>
                          <a:srgbClr val="ffffff"/>
                        </a:solidFill>
                        <a:latin typeface="Latin Modern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old: response average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ffffff"/>
                          </a:solidFill>
                          <a:latin typeface="Latin Modern Roman"/>
                        </a:rPr>
                        <a:t>new: assistant-start</a:t>
                      </a:r>
                      <a:endParaRPr b="0" lang="pl-PL" sz="13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builds the same twice?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no (split-half -0.17)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yes (0.97)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detects “exhortation was present”?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poorly (AUC 0.5-0.65)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perfectly (AUC 1.0)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removing it hurts essays?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yes, strongly</a:t>
                      </a: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 (0.06-0.12)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no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adding it helps essays?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weakly (0.67-0.76 at +0.05)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no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random direction does the same?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no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3430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000000"/>
                          </a:solidFill>
                          <a:latin typeface="Latin Modern Roman"/>
                        </a:rPr>
                        <a:t>no</a:t>
                      </a:r>
                      <a:endParaRPr b="0" lang="pl-PL" sz="13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The old vector is mostly noise, but its shared part drives behavior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The state after </a:t>
            </a:r>
            <a:r>
              <a:rPr b="0" i="1" lang="en-US" sz="2400" spc="-1" strike="noStrike">
                <a:solidFill>
                  <a:schemeClr val="dk1"/>
                </a:solidFill>
                <a:latin typeface="Latin Modern Roman"/>
              </a:rPr>
              <a:t>reading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the instruction is not the state that </a:t>
            </a:r>
            <a:r>
              <a:rPr b="0" i="1" lang="en-US" sz="2400" spc="-1" strike="noStrike">
                <a:solidFill>
                  <a:schemeClr val="dk1"/>
                </a:solidFill>
                <a:latin typeface="Latin Modern Roman"/>
              </a:rPr>
              <a:t>does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the work. Effect probably lives in the response?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What it means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13"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H2 (removal cancels the effect): supported again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, now at three layers and from two independent builds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H1 (adding reproduces the effect): weak.</a:t>
            </a: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 One dose, one layer, significant only when pooled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pc="-1" strike="noStrike">
                <a:solidFill>
                  <a:schemeClr val="dk1"/>
                </a:solidFill>
                <a:latin typeface="Latin Modern Roman"/>
              </a:rPr>
              <a:t>H3 (random does nothing): supported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The exhortation’s influence is carried by a response-state direction, not by a copy of the instruction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Length: steering never reproduces the +17-word effect of the real prompt, at any layer or readout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chemeClr val="dk1"/>
                </a:solidFill>
                <a:latin typeface="Latin Modern Roman"/>
              </a:rPr>
              <a:t>Next</a:t>
            </a:r>
            <a:endParaRPr b="0" lang="en-US" sz="3300" spc="-1" strike="noStrike">
              <a:solidFill>
                <a:schemeClr val="dk1"/>
              </a:solidFill>
              <a:latin typeface="Latin Modern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Rebuild the old vector with more data (300+ per side) and noise cleaning; response readout might be the right one; need larger N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Role vectors: only reliable in the prompt readout, which we now know is weak for steering; need larger N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  <a:p>
            <a:pPr marL="343080" indent="-343080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Latin Modern Roman"/>
              </a:rPr>
              <a:t>Will actually write in Slack now!</a:t>
            </a:r>
            <a:endParaRPr b="0" lang="en-US" sz="2400" spc="-1" strike="noStrike">
              <a:solidFill>
                <a:schemeClr val="dk1"/>
              </a:solidFill>
              <a:latin typeface="Latin Modern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atin Modern Roman" pitchFamily="0" charset="1"/>
        <a:ea typeface=""/>
        <a:cs typeface=""/>
      </a:majorFont>
      <a:minorFont>
        <a:latin typeface="Latin Modern Roma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2026-10-17T17:59:43Z</dcterms:created>
  <dc:creator>Kacper</dc:creator>
  <dc:description/>
  <dc:language>pl-PL</dc:language>
  <cp:lastModifiedBy/>
  <dcterms:modified xsi:type="dcterms:W3CDTF">2026-10-17T20:45:56Z</dcterms:modified>
  <cp:revision>1</cp:revision>
  <dc:subject/>
  <dc:title>SPAR Week 5 Progress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2026-10-17</vt:lpwstr>
  </property>
  <property fmtid="{D5CDD505-2E9C-101B-9397-08002B2CF9AE}" pid="3" name="subtitle">
    <vt:lpwstr>Effort direction in Qwen3.5-9B: new vectors &amp; layer choice exploration</vt:lpwstr>
  </property>
</Properties>
</file>